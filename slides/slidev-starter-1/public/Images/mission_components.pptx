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66"/>
    <p:restoredTop sz="93677"/>
  </p:normalViewPr>
  <p:slideViewPr>
    <p:cSldViewPr snapToGrid="0" showGuides="1">
      <p:cViewPr varScale="1">
        <p:scale>
          <a:sx n="62" d="100"/>
          <a:sy n="62" d="100"/>
        </p:scale>
        <p:origin x="77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E1DE-5CDC-CF24-FFCE-39E19359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A8D6E-854A-11FD-D94A-A256C523E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DB6BB-E32B-919C-3729-BDF6F51B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6C0A6-C4B2-4FB9-9D75-A0408898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B8791-E626-12B9-379E-179AF516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14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BDD6-2892-8EE9-E84A-1B9801FB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0AEF-93B2-3ADB-76DA-03ED5620F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60825-9AE4-438D-2700-70FC7243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9C8AD-F7F5-0113-AD32-EFEA1630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2A8D6-66D7-7568-E06F-146811B8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05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5916-521E-6832-2401-493EB786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E52DA-35A8-0C84-2795-79215583D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52229-8C33-B8DA-8AFA-27898011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9C295-EA55-3E63-93C3-6AFF1A64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D1B99-5B5F-EDE1-ED18-BDD6FE99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06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9284-777C-7845-832B-DC381314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579D-D52C-8066-5616-F1E034903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F96CC-AF3A-3FB6-680B-0E693AE44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FE355-1A0C-F549-BE99-849B9484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A2BC-DEA1-4F8F-CAB5-7120396E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076A1-B231-8804-AFE4-9D0A57B4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2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DC7B-32D4-4996-C3A2-9B52103E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97E67-566B-EB71-E5C6-493585273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7B65A-2771-4037-718E-2B5761DBF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0C2E3-95D2-3978-2088-DCA6963D2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AA220-A386-DEAE-F549-9B4D98339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507BA-6F03-39C4-3E7E-876B83F0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9F262-F387-44A1-551B-90885685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2F147-1B72-00B0-A9E4-DF491B74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769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8C0A-80C4-ED61-0EBF-8A36983E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C1FD8-0C21-3278-FF89-AA4866BF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FFCFD-3107-2596-322A-0419D4B2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2118A-BB07-36F8-B9E9-6E2F4078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84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70D3F-8C7A-A2FF-424D-B3FD4F65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4D87D-2AB0-D5BC-2342-CE23F0EB6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0DFA1-AE51-843C-5A1D-7C062175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96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F086-1103-25F0-BEFF-E34E5639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D9B8B-40D6-D044-57C4-D871AB689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5A7A7-272A-9B41-2E53-A372D8E44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80EC4-A341-14D7-298A-DE55694DF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C464-4464-797C-ACF8-8A458243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A6FDC-C23F-A224-EFBE-B2ED36BD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30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ACE6-6B30-A978-CE7B-1DB5940F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CA7E3A-AA3B-D715-60F4-B5B182804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13CFE-45FE-0B41-AC12-23FE8A02D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B4590-DB70-3CB3-CB99-DCDA8EE3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73B2C-4444-6F93-1414-927E9554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51277-7F4A-4D3D-C86A-97B6516B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5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FCB4-CFEC-25D2-2A2C-96642246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02B37-E255-67E7-99AD-306A3FAC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01CD-1649-1934-0C8A-5560588D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A782D-F2D7-BDCC-3EC4-690137F2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D40B2-CE98-319B-80DF-E8C9DFCE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18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49E0E-6099-DD3F-C3DA-0F909AB88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69E13-D8FF-72B5-EB15-636AD3170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2A960-79A7-2BC3-C68E-69B00F49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C0A27-EE7E-EA83-F247-0B299ACD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4096D-7CAF-32A2-6F97-A31A263B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66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7929D-890F-09CE-95AC-C9B1E8A4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6BF6-1A22-6BD5-A329-803CDB1B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AE46F-97C5-710F-5A9D-4516A23D0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C611D-339A-3346-822A-465B21C8EEBF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E9187-7E21-230B-B7AD-F55302567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6712-F2F4-427E-8816-FA1EB170A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9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F21C00-937F-B531-D485-25B0E4300037}"/>
              </a:ext>
            </a:extLst>
          </p:cNvPr>
          <p:cNvSpPr/>
          <p:nvPr/>
        </p:nvSpPr>
        <p:spPr>
          <a:xfrm>
            <a:off x="5226624" y="2565179"/>
            <a:ext cx="1911927" cy="16833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Spacecraft Bus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A7BA739-5E54-8515-1948-B40D60D53054}"/>
              </a:ext>
            </a:extLst>
          </p:cNvPr>
          <p:cNvSpPr/>
          <p:nvPr/>
        </p:nvSpPr>
        <p:spPr>
          <a:xfrm>
            <a:off x="9093756" y="181839"/>
            <a:ext cx="1911927" cy="16833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Launch provider and vehicle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7EBA68-D465-0939-F507-61C51E515557}"/>
              </a:ext>
            </a:extLst>
          </p:cNvPr>
          <p:cNvSpPr/>
          <p:nvPr/>
        </p:nvSpPr>
        <p:spPr>
          <a:xfrm>
            <a:off x="1524009" y="4637808"/>
            <a:ext cx="4357246" cy="20331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61005C-1C63-3C2C-07CD-68B1150F1965}"/>
              </a:ext>
            </a:extLst>
          </p:cNvPr>
          <p:cNvSpPr/>
          <p:nvPr/>
        </p:nvSpPr>
        <p:spPr>
          <a:xfrm>
            <a:off x="3778823" y="4800602"/>
            <a:ext cx="1911927" cy="16833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Ground station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D6D1D6-589A-E8A9-C345-41E27BA1A5C5}"/>
              </a:ext>
            </a:extLst>
          </p:cNvPr>
          <p:cNvSpPr/>
          <p:nvPr/>
        </p:nvSpPr>
        <p:spPr>
          <a:xfrm>
            <a:off x="9218439" y="4821386"/>
            <a:ext cx="1911927" cy="16833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Mission operations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A28A14-54FF-3700-D9A3-C99D239FC5E7}"/>
              </a:ext>
            </a:extLst>
          </p:cNvPr>
          <p:cNvGrpSpPr/>
          <p:nvPr/>
        </p:nvGrpSpPr>
        <p:grpSpPr>
          <a:xfrm>
            <a:off x="1328301" y="181839"/>
            <a:ext cx="1911927" cy="1683328"/>
            <a:chOff x="1468582" y="904008"/>
            <a:chExt cx="1911927" cy="168332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88538E2-878C-BE9C-2728-DC672283D6DD}"/>
                </a:ext>
              </a:extLst>
            </p:cNvPr>
            <p:cNvSpPr/>
            <p:nvPr/>
          </p:nvSpPr>
          <p:spPr>
            <a:xfrm>
              <a:off x="1468582" y="904008"/>
              <a:ext cx="1911927" cy="16833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1"/>
                  </a:solidFill>
                </a:rPr>
                <a:t>Subject</a:t>
              </a:r>
            </a:p>
            <a:p>
              <a:pPr algn="ctr"/>
              <a:endParaRPr lang="en-GB" sz="2400" dirty="0">
                <a:solidFill>
                  <a:schemeClr val="accent1"/>
                </a:solidFill>
              </a:endParaRPr>
            </a:p>
            <a:p>
              <a:pPr algn="ctr"/>
              <a:r>
                <a:rPr lang="en-GB" sz="2400" dirty="0">
                  <a:solidFill>
                    <a:schemeClr val="accent1"/>
                  </a:solidFill>
                </a:rPr>
                <a:t>Payload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86820F-3C76-34C3-C839-E5B01646D289}"/>
                </a:ext>
              </a:extLst>
            </p:cNvPr>
            <p:cNvCxnSpPr/>
            <p:nvPr/>
          </p:nvCxnSpPr>
          <p:spPr>
            <a:xfrm>
              <a:off x="2445326" y="1586346"/>
              <a:ext cx="0" cy="3671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F6127C-3AE6-969E-BD58-8A1C5412AA80}"/>
              </a:ext>
            </a:extLst>
          </p:cNvPr>
          <p:cNvGrpSpPr/>
          <p:nvPr/>
        </p:nvGrpSpPr>
        <p:grpSpPr>
          <a:xfrm>
            <a:off x="4734787" y="128152"/>
            <a:ext cx="2736271" cy="1683328"/>
            <a:chOff x="4315692" y="647700"/>
            <a:chExt cx="2736271" cy="1683328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DCABF08-CAAA-2B02-797B-FB99FBC8E9FF}"/>
                </a:ext>
              </a:extLst>
            </p:cNvPr>
            <p:cNvSpPr/>
            <p:nvPr/>
          </p:nvSpPr>
          <p:spPr>
            <a:xfrm>
              <a:off x="4315692" y="647700"/>
              <a:ext cx="2736271" cy="16833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accent1"/>
                  </a:solidFill>
                </a:rPr>
                <a:t>Orbit</a:t>
              </a:r>
            </a:p>
            <a:p>
              <a:pPr algn="ctr"/>
              <a:endParaRPr lang="en-GB" sz="2400" dirty="0">
                <a:solidFill>
                  <a:schemeClr val="accent1"/>
                </a:solidFill>
              </a:endParaRPr>
            </a:p>
            <a:p>
              <a:pPr algn="ctr"/>
              <a:r>
                <a:rPr lang="en-GB" sz="2400" dirty="0">
                  <a:solidFill>
                    <a:schemeClr val="accent1"/>
                  </a:solidFill>
                </a:rPr>
                <a:t>Space environment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D4C101E-1623-9B36-FAFC-F38206AE292D}"/>
                </a:ext>
              </a:extLst>
            </p:cNvPr>
            <p:cNvCxnSpPr/>
            <p:nvPr/>
          </p:nvCxnSpPr>
          <p:spPr>
            <a:xfrm>
              <a:off x="5704609" y="1163783"/>
              <a:ext cx="0" cy="3671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64CECCD-7F4E-8C5F-D4E2-27F9E4C0D427}"/>
              </a:ext>
            </a:extLst>
          </p:cNvPr>
          <p:cNvSpPr txBox="1"/>
          <p:nvPr/>
        </p:nvSpPr>
        <p:spPr>
          <a:xfrm>
            <a:off x="1742214" y="4904509"/>
            <a:ext cx="1911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1"/>
                </a:solidFill>
              </a:rPr>
              <a:t>Command, control and communications architecture</a:t>
            </a:r>
          </a:p>
          <a:p>
            <a:endParaRPr lang="en-GB" dirty="0"/>
          </a:p>
        </p:txBody>
      </p:sp>
      <p:sp>
        <p:nvSpPr>
          <p:cNvPr id="19" name="Bent Up Arrow 18">
            <a:extLst>
              <a:ext uri="{FF2B5EF4-FFF2-40B4-BE49-F238E27FC236}">
                <a16:creationId xmlns:a16="http://schemas.microsoft.com/office/drawing/2014/main" id="{37C0E48D-D8E0-0115-3CFC-E064496348FA}"/>
              </a:ext>
            </a:extLst>
          </p:cNvPr>
          <p:cNvSpPr/>
          <p:nvPr/>
        </p:nvSpPr>
        <p:spPr>
          <a:xfrm rot="5400000">
            <a:off x="2810738" y="1447804"/>
            <a:ext cx="1683326" cy="2736272"/>
          </a:xfrm>
          <a:prstGeom prst="bentUpArrow">
            <a:avLst>
              <a:gd name="adj1" fmla="val 18827"/>
              <a:gd name="adj2" fmla="val 36696"/>
              <a:gd name="adj3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CF88DB-352F-7F29-669E-BCFE533882D6}"/>
              </a:ext>
            </a:extLst>
          </p:cNvPr>
          <p:cNvSpPr txBox="1"/>
          <p:nvPr/>
        </p:nvSpPr>
        <p:spPr>
          <a:xfrm>
            <a:off x="1272883" y="3193112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Payload requirements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774A3D12-976D-114D-812A-CA1A53D43B0F}"/>
              </a:ext>
            </a:extLst>
          </p:cNvPr>
          <p:cNvSpPr/>
          <p:nvPr/>
        </p:nvSpPr>
        <p:spPr>
          <a:xfrm>
            <a:off x="3334607" y="968085"/>
            <a:ext cx="1340430" cy="159327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E5EDF7-759F-8075-64D2-BCA5C81183B4}"/>
              </a:ext>
            </a:extLst>
          </p:cNvPr>
          <p:cNvSpPr txBox="1"/>
          <p:nvPr/>
        </p:nvSpPr>
        <p:spPr>
          <a:xfrm>
            <a:off x="3246286" y="1112511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Subject requirements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B14E8AE-7611-432E-1127-A1C5B8FFF9C2}"/>
              </a:ext>
            </a:extLst>
          </p:cNvPr>
          <p:cNvSpPr/>
          <p:nvPr/>
        </p:nvSpPr>
        <p:spPr>
          <a:xfrm>
            <a:off x="7537289" y="962891"/>
            <a:ext cx="1340430" cy="159327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EB4CBF-9D5B-08BA-FB29-482300FBC2A9}"/>
              </a:ext>
            </a:extLst>
          </p:cNvPr>
          <p:cNvSpPr txBox="1"/>
          <p:nvPr/>
        </p:nvSpPr>
        <p:spPr>
          <a:xfrm>
            <a:off x="7512622" y="321069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Orbit requirements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3E56660-3FBD-D951-3A6F-B7924F1BD677}"/>
              </a:ext>
            </a:extLst>
          </p:cNvPr>
          <p:cNvSpPr/>
          <p:nvPr/>
        </p:nvSpPr>
        <p:spPr>
          <a:xfrm rot="5400000">
            <a:off x="5811363" y="2128147"/>
            <a:ext cx="646330" cy="15847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0D3BE2-C959-76BC-563F-CE846B286A8F}"/>
              </a:ext>
            </a:extLst>
          </p:cNvPr>
          <p:cNvSpPr txBox="1"/>
          <p:nvPr/>
        </p:nvSpPr>
        <p:spPr>
          <a:xfrm>
            <a:off x="6213763" y="1884216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Environment requirements</a:t>
            </a:r>
          </a:p>
        </p:txBody>
      </p:sp>
      <p:sp>
        <p:nvSpPr>
          <p:cNvPr id="28" name="Bent Up Arrow 27">
            <a:extLst>
              <a:ext uri="{FF2B5EF4-FFF2-40B4-BE49-F238E27FC236}">
                <a16:creationId xmlns:a16="http://schemas.microsoft.com/office/drawing/2014/main" id="{1C5C1366-63BC-C007-A7AF-A06AD39D78F8}"/>
              </a:ext>
            </a:extLst>
          </p:cNvPr>
          <p:cNvSpPr/>
          <p:nvPr/>
        </p:nvSpPr>
        <p:spPr>
          <a:xfrm rot="5400000" flipV="1">
            <a:off x="8031058" y="1161006"/>
            <a:ext cx="1363436" cy="2989979"/>
          </a:xfrm>
          <a:prstGeom prst="bentUpArrow">
            <a:avLst>
              <a:gd name="adj1" fmla="val 5996"/>
              <a:gd name="adj2" fmla="val 8119"/>
              <a:gd name="adj3" fmla="val 363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DD176A-98A8-7569-E32A-57B42E13BA1D}"/>
              </a:ext>
            </a:extLst>
          </p:cNvPr>
          <p:cNvSpPr txBox="1"/>
          <p:nvPr/>
        </p:nvSpPr>
        <p:spPr>
          <a:xfrm>
            <a:off x="10287001" y="2103514"/>
            <a:ext cx="151707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Interface and environment requirements</a:t>
            </a:r>
          </a:p>
        </p:txBody>
      </p:sp>
      <p:sp>
        <p:nvSpPr>
          <p:cNvPr id="30" name="Bent Up Arrow 29">
            <a:extLst>
              <a:ext uri="{FF2B5EF4-FFF2-40B4-BE49-F238E27FC236}">
                <a16:creationId xmlns:a16="http://schemas.microsoft.com/office/drawing/2014/main" id="{18E39327-ECBD-C517-B81E-A298D062D61C}"/>
              </a:ext>
            </a:extLst>
          </p:cNvPr>
          <p:cNvSpPr/>
          <p:nvPr/>
        </p:nvSpPr>
        <p:spPr>
          <a:xfrm rot="16200000">
            <a:off x="8111568" y="2651854"/>
            <a:ext cx="1218835" cy="2989979"/>
          </a:xfrm>
          <a:prstGeom prst="bentUpArrow">
            <a:avLst>
              <a:gd name="adj1" fmla="val 5996"/>
              <a:gd name="adj2" fmla="val 8119"/>
              <a:gd name="adj3" fmla="val 363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3C76D6-ACB7-6AB2-5B6E-F8AA88AC0E56}"/>
              </a:ext>
            </a:extLst>
          </p:cNvPr>
          <p:cNvSpPr txBox="1"/>
          <p:nvPr/>
        </p:nvSpPr>
        <p:spPr>
          <a:xfrm>
            <a:off x="10287001" y="3925341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Operations requirements</a:t>
            </a:r>
          </a:p>
        </p:txBody>
      </p:sp>
      <p:sp>
        <p:nvSpPr>
          <p:cNvPr id="32" name="Left-right Arrow 31">
            <a:extLst>
              <a:ext uri="{FF2B5EF4-FFF2-40B4-BE49-F238E27FC236}">
                <a16:creationId xmlns:a16="http://schemas.microsoft.com/office/drawing/2014/main" id="{945DB541-A7B5-74A8-8D23-1D6024B85D05}"/>
              </a:ext>
            </a:extLst>
          </p:cNvPr>
          <p:cNvSpPr/>
          <p:nvPr/>
        </p:nvSpPr>
        <p:spPr>
          <a:xfrm>
            <a:off x="5955716" y="5663049"/>
            <a:ext cx="3163146" cy="158400"/>
          </a:xfrm>
          <a:prstGeom prst="leftRightArrow">
            <a:avLst>
              <a:gd name="adj1" fmla="val 50000"/>
              <a:gd name="adj2" fmla="val 2242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D48E5B-0820-4A04-84DF-F07EFB1FDC82}"/>
              </a:ext>
            </a:extLst>
          </p:cNvPr>
          <p:cNvSpPr txBox="1"/>
          <p:nvPr/>
        </p:nvSpPr>
        <p:spPr>
          <a:xfrm>
            <a:off x="6724636" y="5764960"/>
            <a:ext cx="191192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Telemetry and command requirements</a:t>
            </a:r>
          </a:p>
        </p:txBody>
      </p:sp>
      <p:sp>
        <p:nvSpPr>
          <p:cNvPr id="34" name="Left-right Arrow 33">
            <a:extLst>
              <a:ext uri="{FF2B5EF4-FFF2-40B4-BE49-F238E27FC236}">
                <a16:creationId xmlns:a16="http://schemas.microsoft.com/office/drawing/2014/main" id="{209BC5D0-BBDF-BF3A-289F-900305F2A3E3}"/>
              </a:ext>
            </a:extLst>
          </p:cNvPr>
          <p:cNvSpPr/>
          <p:nvPr/>
        </p:nvSpPr>
        <p:spPr>
          <a:xfrm rot="18839527">
            <a:off x="4931262" y="4412129"/>
            <a:ext cx="1251220" cy="158400"/>
          </a:xfrm>
          <a:prstGeom prst="leftRightArrow">
            <a:avLst>
              <a:gd name="adj1" fmla="val 50000"/>
              <a:gd name="adj2" fmla="val 2242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F7CA48-D89D-93BD-5783-6EE36B22DFCC}"/>
              </a:ext>
            </a:extLst>
          </p:cNvPr>
          <p:cNvSpPr txBox="1"/>
          <p:nvPr/>
        </p:nvSpPr>
        <p:spPr>
          <a:xfrm>
            <a:off x="3371153" y="4215838"/>
            <a:ext cx="238072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Frequency selection</a:t>
            </a:r>
          </a:p>
        </p:txBody>
      </p:sp>
    </p:spTree>
    <p:extLst>
      <p:ext uri="{BB962C8B-B14F-4D97-AF65-F5344CB8AC3E}">
        <p14:creationId xmlns:p14="http://schemas.microsoft.com/office/powerpoint/2010/main" val="140247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41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Perrott</dc:creator>
  <cp:lastModifiedBy>Yvette Perrott</cp:lastModifiedBy>
  <cp:revision>1</cp:revision>
  <dcterms:created xsi:type="dcterms:W3CDTF">2025-02-03T02:09:14Z</dcterms:created>
  <dcterms:modified xsi:type="dcterms:W3CDTF">2025-02-03T02:28:12Z</dcterms:modified>
</cp:coreProperties>
</file>