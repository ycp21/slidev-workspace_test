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53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34"/>
    <p:restoredTop sz="94444"/>
  </p:normalViewPr>
  <p:slideViewPr>
    <p:cSldViewPr snapToGrid="0" showGuides="1">
      <p:cViewPr varScale="1">
        <p:scale>
          <a:sx n="48" d="100"/>
          <a:sy n="48" d="100"/>
        </p:scale>
        <p:origin x="224" y="7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130D-579C-C08C-0FBB-E45459A57F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4B437E-2A3D-26A7-8296-B28F7321D9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F949C-AD97-5DA4-8384-F1CC3673C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1AD8-1EAA-8843-BCC6-50CFDDAFF099}" type="datetimeFigureOut">
              <a:rPr lang="en-GB" smtClean="0"/>
              <a:t>20/02/2025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3756B-6B20-E5A5-95F9-9479037E0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B7FA2-4C48-74A5-30BB-7599D80BE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A40BF-3B7F-064D-A5A9-5E2924530B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4630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F07C9-7FD1-2F5E-4EC7-5564A512E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B466E-7C7F-2C0B-45C5-924D288A2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496CC-8D3D-A187-85FA-4C9CB6ABF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1AD8-1EAA-8843-BCC6-50CFDDAFF099}" type="datetimeFigureOut">
              <a:rPr lang="en-GB" smtClean="0"/>
              <a:t>20/02/2025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EEE8C-9E21-09C8-D504-06DC50CEA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04B5D-FCD9-7E2B-B539-551DA266A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A40BF-3B7F-064D-A5A9-5E2924530B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8297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E2C6C-1A42-3444-5FC9-5937A94BB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49BAE-5E1A-223F-EC7F-BDB03F5E0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32C86-0341-B12E-D151-15F2C0CFB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1AD8-1EAA-8843-BCC6-50CFDDAFF099}" type="datetimeFigureOut">
              <a:rPr lang="en-GB" smtClean="0"/>
              <a:t>20/02/2025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223D8-24A4-FF9B-BF64-676D9F0D7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77739-531C-679B-DFB5-29DB9B623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A40BF-3B7F-064D-A5A9-5E2924530B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3053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964AA-38FE-74F3-86DF-E145A8F17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EC5D1-630E-9C38-2372-B55766DFBD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FC0DD8-1D2D-AF05-1CA0-E1465E981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7C311A-C793-4AA0-2BF0-2A0E40EF6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1AD8-1EAA-8843-BCC6-50CFDDAFF099}" type="datetimeFigureOut">
              <a:rPr lang="en-GB" smtClean="0"/>
              <a:t>20/02/2025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8CDF1C-C878-0EC9-2CBA-577086CF5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220A49-8DC8-34FB-9B77-C18FF7CED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A40BF-3B7F-064D-A5A9-5E2924530B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7620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93042-CE59-479B-BD71-1CBD9C6B0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B6A50-A8D8-6CBB-0DDA-479B86E61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54BAE4-4498-7691-10F2-BAEE891B8E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478571-1981-C09B-D04C-83FB310FA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D13603-CB06-1079-94A7-12CC435172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ADBE90-2883-9C83-0180-E493BE547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1AD8-1EAA-8843-BCC6-50CFDDAFF099}" type="datetimeFigureOut">
              <a:rPr lang="en-GB" smtClean="0"/>
              <a:t>20/02/2025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7E83DE-502D-817E-E326-B86C309C4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C948F9-D5D2-C6B0-E059-905FFE866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A40BF-3B7F-064D-A5A9-5E2924530B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8464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1649A-00E4-73B6-A029-2E06ACB48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AAF373-A412-549A-2E3D-2736A3F39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1AD8-1EAA-8843-BCC6-50CFDDAFF099}" type="datetimeFigureOut">
              <a:rPr lang="en-GB" smtClean="0"/>
              <a:t>20/02/2025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4DCB93-3F4A-8E89-C507-110F9E463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9BC768-5D98-62D3-3D8F-733634505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A40BF-3B7F-064D-A5A9-5E2924530B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9098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935CA0-3227-61EF-B82F-CEB804156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1AD8-1EAA-8843-BCC6-50CFDDAFF099}" type="datetimeFigureOut">
              <a:rPr lang="en-GB" smtClean="0"/>
              <a:t>20/02/2025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20A15F-BDEC-DFC1-5249-4A7F8F2CA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FAB1A-39B4-BC84-1CE0-1F0D972FF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A40BF-3B7F-064D-A5A9-5E2924530B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8566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9881D-5BF3-8D4F-9273-6483CAC6C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DD454-C13C-3A72-494F-E2EAC5FB9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F9018D-76F6-E31A-2EF7-CF1240F8AC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3EAA0-2CCB-251E-F7B6-25D28D0F6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1AD8-1EAA-8843-BCC6-50CFDDAFF099}" type="datetimeFigureOut">
              <a:rPr lang="en-GB" smtClean="0"/>
              <a:t>20/02/2025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A52D7-7C76-A243-CF20-25629A024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4161D-94C7-DF7D-04FC-B10095ABA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A40BF-3B7F-064D-A5A9-5E2924530B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6902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A1AFC-D2AA-EA6F-A485-8366185B4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6E2587-E6EC-7DCC-78E0-1257AAD8A6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E1A839-D335-2241-2F82-B87B230633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02A784-52A1-F6A0-3F74-E364936B2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1AD8-1EAA-8843-BCC6-50CFDDAFF099}" type="datetimeFigureOut">
              <a:rPr lang="en-GB" smtClean="0"/>
              <a:t>20/02/2025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70FD1-37BA-F80B-92A4-95DB952F4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B1F48-AF3E-2F3B-A633-64517CBE3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A40BF-3B7F-064D-A5A9-5E2924530B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6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CF30D-8FBE-8BD6-4DE6-05AF5AAB0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DF36CF-887E-3E7E-D923-68284CD810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C8E53-F95B-F01F-F049-033DEF1F4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1AD8-1EAA-8843-BCC6-50CFDDAFF099}" type="datetimeFigureOut">
              <a:rPr lang="en-GB" smtClean="0"/>
              <a:t>20/02/2025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53193-E3C8-A962-1AD9-CB184257B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B71F5-BE91-2271-D44A-E2DC38EE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A40BF-3B7F-064D-A5A9-5E2924530B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9807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35CDAF-6EF9-6AA0-E123-D6C898625B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D24FE1-835F-B3CB-96FA-B8C05E88EE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46A53-CA80-7C84-733F-EE6B635E9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1AD8-1EAA-8843-BCC6-50CFDDAFF099}" type="datetimeFigureOut">
              <a:rPr lang="en-GB" smtClean="0"/>
              <a:t>20/02/2025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20DAC-1A74-DEF3-79E3-BE185FDB4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B1482-23B1-74D5-66E4-CD20559A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A40BF-3B7F-064D-A5A9-5E2924530B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162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F59CBE-5DA8-EEDB-29C0-3249582DF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9365A1-423D-8D3E-4EC5-86E4402DD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F8022-F6C4-EC07-58CE-60BEA59EC4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FF1AD8-1EAA-8843-BCC6-50CFDDAFF099}" type="datetimeFigureOut">
              <a:rPr lang="en-GB" smtClean="0"/>
              <a:t>20/02/2025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D3BB8-07CA-7D22-454B-009B6D6837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FE4A8-F77B-145F-200E-3A6014815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3A40BF-3B7F-064D-A5A9-5E2924530B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0121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3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1FA3F33-3E26-B3A1-A091-745E4CDBE622}"/>
              </a:ext>
            </a:extLst>
          </p:cNvPr>
          <p:cNvSpPr/>
          <p:nvPr/>
        </p:nvSpPr>
        <p:spPr>
          <a:xfrm>
            <a:off x="-268941" y="3139714"/>
            <a:ext cx="12747812" cy="5985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lternative Process 3">
            <a:extLst>
              <a:ext uri="{FF2B5EF4-FFF2-40B4-BE49-F238E27FC236}">
                <a16:creationId xmlns:a16="http://schemas.microsoft.com/office/drawing/2014/main" id="{AF44C423-11C3-B522-C2B5-7C839D393529}"/>
              </a:ext>
            </a:extLst>
          </p:cNvPr>
          <p:cNvSpPr/>
          <p:nvPr/>
        </p:nvSpPr>
        <p:spPr>
          <a:xfrm>
            <a:off x="391685" y="355832"/>
            <a:ext cx="2497015" cy="2548734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tx1"/>
                </a:solidFill>
              </a:rPr>
              <a:t>2014</a:t>
            </a:r>
          </a:p>
          <a:p>
            <a:pPr algn="ctr"/>
            <a:r>
              <a:rPr lang="en-GB" i="1" dirty="0">
                <a:solidFill>
                  <a:schemeClr val="tx1"/>
                </a:solidFill>
              </a:rPr>
              <a:t>Athena </a:t>
            </a:r>
            <a:r>
              <a:rPr lang="en-GB" dirty="0">
                <a:solidFill>
                  <a:schemeClr val="tx1"/>
                </a:solidFill>
              </a:rPr>
              <a:t>X-ray Observatory selected by ESA as its second L-class mission of the Cosmic Vision programme</a:t>
            </a:r>
            <a:endParaRPr lang="en-GB" i="1" dirty="0">
              <a:solidFill>
                <a:schemeClr val="tx1"/>
              </a:solidFill>
            </a:endParaRPr>
          </a:p>
        </p:txBody>
      </p:sp>
      <p:sp>
        <p:nvSpPr>
          <p:cNvPr id="5" name="Alternative Process 4">
            <a:extLst>
              <a:ext uri="{FF2B5EF4-FFF2-40B4-BE49-F238E27FC236}">
                <a16:creationId xmlns:a16="http://schemas.microsoft.com/office/drawing/2014/main" id="{E36D3E62-E179-9346-775C-4178E1243C73}"/>
              </a:ext>
            </a:extLst>
          </p:cNvPr>
          <p:cNvSpPr/>
          <p:nvPr/>
        </p:nvSpPr>
        <p:spPr>
          <a:xfrm>
            <a:off x="2006371" y="3892748"/>
            <a:ext cx="2497015" cy="2829053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tx1"/>
                </a:solidFill>
              </a:rPr>
              <a:t>Dec 2018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Instruments consortia officially endorsed.  Instrument Preliminary Requirements Reviews passed by April 2019</a:t>
            </a:r>
          </a:p>
        </p:txBody>
      </p:sp>
      <p:sp>
        <p:nvSpPr>
          <p:cNvPr id="6" name="Alternative Process 5">
            <a:extLst>
              <a:ext uri="{FF2B5EF4-FFF2-40B4-BE49-F238E27FC236}">
                <a16:creationId xmlns:a16="http://schemas.microsoft.com/office/drawing/2014/main" id="{AC6CF041-A188-A03E-EE3C-7079AF77DFC4}"/>
              </a:ext>
            </a:extLst>
          </p:cNvPr>
          <p:cNvSpPr/>
          <p:nvPr/>
        </p:nvSpPr>
        <p:spPr>
          <a:xfrm>
            <a:off x="4040149" y="454444"/>
            <a:ext cx="2497015" cy="235151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tx1"/>
                </a:solidFill>
              </a:rPr>
              <a:t>Nov 2019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Phase A of the mission ended with the Mission Formulation Review; Phase B1 began</a:t>
            </a:r>
          </a:p>
        </p:txBody>
      </p:sp>
      <p:sp>
        <p:nvSpPr>
          <p:cNvPr id="7" name="Alternative Process 6">
            <a:extLst>
              <a:ext uri="{FF2B5EF4-FFF2-40B4-BE49-F238E27FC236}">
                <a16:creationId xmlns:a16="http://schemas.microsoft.com/office/drawing/2014/main" id="{E2BDC35A-AA9F-C5FD-0C56-203292272193}"/>
              </a:ext>
            </a:extLst>
          </p:cNvPr>
          <p:cNvSpPr/>
          <p:nvPr/>
        </p:nvSpPr>
        <p:spPr>
          <a:xfrm>
            <a:off x="5676731" y="4155822"/>
            <a:ext cx="2497015" cy="235151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tx1"/>
                </a:solidFill>
              </a:rPr>
              <a:t>Jun 2022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Phase B1 truncated; redefinition of the mission required to comply with prospective resources</a:t>
            </a:r>
          </a:p>
        </p:txBody>
      </p:sp>
      <p:sp>
        <p:nvSpPr>
          <p:cNvPr id="8" name="Alternative Process 7">
            <a:extLst>
              <a:ext uri="{FF2B5EF4-FFF2-40B4-BE49-F238E27FC236}">
                <a16:creationId xmlns:a16="http://schemas.microsoft.com/office/drawing/2014/main" id="{D1CA870E-4B3A-B60A-9DAA-873FB0BF3806}"/>
              </a:ext>
            </a:extLst>
          </p:cNvPr>
          <p:cNvSpPr/>
          <p:nvPr/>
        </p:nvSpPr>
        <p:spPr>
          <a:xfrm>
            <a:off x="7688613" y="394967"/>
            <a:ext cx="2497015" cy="235151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tx1"/>
                </a:solidFill>
              </a:rPr>
              <a:t>2022 – 2023 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“Design-to-cost” exercise ensuring that the total mission cost remained under 1.3G€</a:t>
            </a:r>
          </a:p>
        </p:txBody>
      </p:sp>
      <p:sp>
        <p:nvSpPr>
          <p:cNvPr id="9" name="Alternative Process 8">
            <a:extLst>
              <a:ext uri="{FF2B5EF4-FFF2-40B4-BE49-F238E27FC236}">
                <a16:creationId xmlns:a16="http://schemas.microsoft.com/office/drawing/2014/main" id="{CFCD89B8-ED1F-C0ED-5D8E-B9763F0149D7}"/>
              </a:ext>
            </a:extLst>
          </p:cNvPr>
          <p:cNvSpPr/>
          <p:nvPr/>
        </p:nvSpPr>
        <p:spPr>
          <a:xfrm>
            <a:off x="8937121" y="4131519"/>
            <a:ext cx="2497015" cy="235151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tx1"/>
                </a:solidFill>
              </a:rPr>
              <a:t>Nov 2023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ESA’s Science Programme Committee endorsed the rescoped version, </a:t>
            </a:r>
            <a:r>
              <a:rPr lang="en-GB" dirty="0" err="1">
                <a:solidFill>
                  <a:schemeClr val="tx1"/>
                </a:solidFill>
              </a:rPr>
              <a:t>New</a:t>
            </a:r>
            <a:r>
              <a:rPr lang="en-GB" i="1" dirty="0" err="1">
                <a:solidFill>
                  <a:schemeClr val="tx1"/>
                </a:solidFill>
              </a:rPr>
              <a:t>Athena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67FF9D-BFBA-49E6-9719-56839B276B87}"/>
              </a:ext>
            </a:extLst>
          </p:cNvPr>
          <p:cNvSpPr/>
          <p:nvPr/>
        </p:nvSpPr>
        <p:spPr>
          <a:xfrm>
            <a:off x="5073674" y="2716308"/>
            <a:ext cx="366179" cy="6230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12C2A1-204F-0C40-6CBC-4C43FBB04B1D}"/>
              </a:ext>
            </a:extLst>
          </p:cNvPr>
          <p:cNvSpPr/>
          <p:nvPr/>
        </p:nvSpPr>
        <p:spPr>
          <a:xfrm>
            <a:off x="8856778" y="2626662"/>
            <a:ext cx="366179" cy="6230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AB3650-D043-3A8D-8AC8-1EBCF18A266F}"/>
              </a:ext>
            </a:extLst>
          </p:cNvPr>
          <p:cNvSpPr/>
          <p:nvPr/>
        </p:nvSpPr>
        <p:spPr>
          <a:xfrm>
            <a:off x="3047652" y="3325906"/>
            <a:ext cx="366179" cy="6230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17C24C-97EE-C195-E596-D41E6AC8932A}"/>
              </a:ext>
            </a:extLst>
          </p:cNvPr>
          <p:cNvSpPr/>
          <p:nvPr/>
        </p:nvSpPr>
        <p:spPr>
          <a:xfrm>
            <a:off x="6678352" y="3567952"/>
            <a:ext cx="366179" cy="6230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BA92DB-24F3-A2E5-F51C-164B8A4B1916}"/>
              </a:ext>
            </a:extLst>
          </p:cNvPr>
          <p:cNvSpPr/>
          <p:nvPr/>
        </p:nvSpPr>
        <p:spPr>
          <a:xfrm>
            <a:off x="9959439" y="3567952"/>
            <a:ext cx="366179" cy="6230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1D21C7-80F8-3C5A-9C96-7B5195B271F2}"/>
              </a:ext>
            </a:extLst>
          </p:cNvPr>
          <p:cNvSpPr/>
          <p:nvPr/>
        </p:nvSpPr>
        <p:spPr>
          <a:xfrm>
            <a:off x="1478828" y="2832848"/>
            <a:ext cx="366179" cy="6230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674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94</Words>
  <Application>Microsoft Macintosh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Yvette Perrott</dc:creator>
  <cp:lastModifiedBy>Yvette Perrott</cp:lastModifiedBy>
  <cp:revision>1</cp:revision>
  <dcterms:created xsi:type="dcterms:W3CDTF">2025-02-19T22:20:21Z</dcterms:created>
  <dcterms:modified xsi:type="dcterms:W3CDTF">2025-02-19T22:33:39Z</dcterms:modified>
</cp:coreProperties>
</file>